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14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4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868680" cy="8686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868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BIS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Segoe UI"/>
              </a:rPr>
              <a:t>PT PRIMA SARANA GEMILANG  •  IT DIVISION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Bebang 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Segoe UI"/>
              </a:rPr>
              <a:t>Sistem Informasi Terintegrasi untuk HR, Inventory &amp; Facility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Segoe UI"/>
              </a:rPr>
              <a:t>Enterprise Resource Planning &amp; Integrated Management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54864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5486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FACILITY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5486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USER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Presentasi Aplikasi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PENGANTAR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Apa itu Bebang Sistem Informasi?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475569"/>
                </a:solidFill>
                <a:latin typeface="Segoe UI"/>
              </a:rPr>
              <a:t>BIS adalah sistem informasi terintegrasi kelas enterprise yang menyatukan pengelolaan Sumber Daya Manusia, Inventaris/Logistik, dan Fasilitas dalam satu platform tunggal — dirancang untuk kebutuhan perusahaan pertambangan dan industri.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356616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Segoe UI"/>
              </a:rPr>
              <a:t>Satu Sumber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Data karyawan, aset, dan fasilitas terhubung — tidak ada lagi pencatatan ganda di banyak file terpisah.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83464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834640"/>
            <a:ext cx="3566160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Segoe UI"/>
              </a:rPr>
              <a:t>Proses Terstandar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49039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Alur persetujuan, audit, dan pelaporan mengikuti prosedur yang konsisten di seluruh unit kerja.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83464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2834640"/>
            <a:ext cx="356616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Segoe UI"/>
              </a:rPr>
              <a:t>Aman &amp; Terkontrol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49039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Setiap akses dibatasi sesuai peran, seluruh perubahan tercatat dalam jejak audit.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Tantangan yang Dijawab BIS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394960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B91C1C"/>
                </a:solidFill>
                <a:latin typeface="Segoe UI"/>
              </a:rPr>
              <a:t>Sebelum BIS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Segoe UI"/>
              </a:rPr>
              <a:t>✕  </a:t>
            </a:r>
            <a:r>
              <a:rPr sz="1500" b="0">
                <a:solidFill>
                  <a:srgbClr val="7F1D1D"/>
                </a:solidFill>
                <a:latin typeface="Segoe UI"/>
              </a:rPr>
              <a:t>Data karyawan tersebar di banyak berkas Excel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Segoe UI"/>
              </a:rPr>
              <a:t>✕  </a:t>
            </a:r>
            <a:r>
              <a:rPr sz="1500" b="0">
                <a:solidFill>
                  <a:srgbClr val="7F1D1D"/>
                </a:solidFill>
                <a:latin typeface="Segoe UI"/>
              </a:rPr>
              <a:t>Aset perusahaan sulit dilacak — siapa memegang apa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Segoe UI"/>
              </a:rPr>
              <a:t>✕  </a:t>
            </a:r>
            <a:r>
              <a:rPr sz="1500" b="0">
                <a:solidFill>
                  <a:srgbClr val="7F1D1D"/>
                </a:solidFill>
                <a:latin typeface="Segoe UI"/>
              </a:rPr>
              <a:t>Stok gudang tidak real-time, rawan selisih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Segoe UI"/>
              </a:rPr>
              <a:t>✕  </a:t>
            </a:r>
            <a:r>
              <a:rPr sz="1500" b="0">
                <a:solidFill>
                  <a:srgbClr val="7F1D1D"/>
                </a:solidFill>
                <a:latin typeface="Segoe UI"/>
              </a:rPr>
              <a:t>Persetujuan manual, tidak ada jejak audit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Segoe UI"/>
              </a:rPr>
              <a:t>✕  </a:t>
            </a:r>
            <a:r>
              <a:rPr sz="1500" b="0">
                <a:solidFill>
                  <a:srgbClr val="7F1D1D"/>
                </a:solidFill>
                <a:latin typeface="Segoe UI"/>
              </a:rPr>
              <a:t>Laporan disusun manual, memakan waktu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39496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5803D"/>
                </a:solidFill>
                <a:latin typeface="Segoe UI"/>
              </a:rPr>
              <a:t>Dengan BIS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500" b="0">
                <a:solidFill>
                  <a:srgbClr val="14532B"/>
                </a:solidFill>
                <a:latin typeface="Segoe UI"/>
              </a:rPr>
              <a:t>Basis data terpusat &amp; terintegrasi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500" b="0">
                <a:solidFill>
                  <a:srgbClr val="14532B"/>
                </a:solidFill>
                <a:latin typeface="Segoe UI"/>
              </a:rPr>
              <a:t>Pelacakan aset per karyawan lewat serial/QR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500" b="0">
                <a:solidFill>
                  <a:srgbClr val="14532B"/>
                </a:solidFill>
                <a:latin typeface="Segoe UI"/>
              </a:rPr>
              <a:t>Stok &amp; transaksi tercatat otomatis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500" b="0">
                <a:solidFill>
                  <a:srgbClr val="14532B"/>
                </a:solidFill>
                <a:latin typeface="Segoe UI"/>
              </a:rPr>
              <a:t>Alur persetujuan digital + jejak audit lengkap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Segoe UI"/>
              </a:rPr>
              <a:t>✓  </a:t>
            </a:r>
            <a:r>
              <a:rPr sz="1500" b="0">
                <a:solidFill>
                  <a:srgbClr val="14532B"/>
                </a:solidFill>
                <a:latin typeface="Segoe UI"/>
              </a:rPr>
              <a:t>Laporan &amp; ekspor Excel/PDF sekali klik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IKHTISAR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Empat Modul dalam Satu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Human Resources  </a:t>
            </a:r>
            <a:r>
              <a:rPr sz="1400">
                <a:solidFill>
                  <a:srgbClr val="475569"/>
                </a:solidFill>
                <a:latin typeface="Segoe UI"/>
              </a:rPr>
              <a:t>manajemen karyawan, master data, presensi &amp; cuti.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Inventory  </a:t>
            </a:r>
            <a:r>
              <a:rPr sz="1400">
                <a:solidFill>
                  <a:srgbClr val="475569"/>
                </a:solidFill>
                <a:latin typeface="Segoe UI"/>
              </a:rPr>
              <a:t>produk, stok, transaksi, serial number &amp; stock opname.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Facility Mgmt  </a:t>
            </a:r>
            <a:r>
              <a:rPr sz="1400">
                <a:solidFill>
                  <a:srgbClr val="475569"/>
                </a:solidFill>
                <a:latin typeface="Segoe UI"/>
              </a:rPr>
              <a:t>gedung, ruangan, akomodasi site &amp; work order.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User Access  </a:t>
            </a:r>
            <a:r>
              <a:rPr sz="1400">
                <a:solidFill>
                  <a:srgbClr val="475569"/>
                </a:solidFill>
                <a:latin typeface="Segoe UI"/>
              </a:rPr>
              <a:t>keamanan, peran, dan hak akses pengguna.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Pemberitahuan sistem terpusat  </a:t>
            </a:r>
            <a:r>
              <a:rPr sz="1400">
                <a:solidFill>
                  <a:srgbClr val="475569"/>
                </a:solidFill>
                <a:latin typeface="Segoe UI"/>
              </a:rPr>
              <a:t>stok rendah, aset perlu ditinjau, persetujuan tertunda.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welcome-mod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Beranda Modul Utama — pintu masuk ke seluruh modul BIS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CARA KERJA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Bagaimana Modul Saling Terhubung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Segoe UI"/>
              </a:rPr>
              <a:t>Contoh: aset dari gudang diserahkan ke karyawan, ditempatkan di fasilitas, lalu diverifikasi lewat stock opname.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Segoe UI"/>
              </a:rP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Barang masuk ke gudang dari supplier, dicatat dengan serial/tag.</a:t>
            </a:r>
          </a:p>
        </p:txBody>
      </p:sp>
      <p:sp>
        <p:nvSpPr>
          <p:cNvPr id="13" name="Chevron 12"/>
          <p:cNvSpPr/>
          <p:nvPr/>
        </p:nvSpPr>
        <p:spPr>
          <a:xfrm>
            <a:off x="3172968" y="3566160"/>
            <a:ext cx="219456" cy="457200"/>
          </a:xfrm>
          <a:prstGeom prst="chevron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0712" y="24688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85032" y="2743200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81635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520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Segoe UI"/>
              </a:rPr>
              <a:t>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9319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Aset diserahkan ke karyawan — tercatat siapa pemegangnya.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5040" y="3566160"/>
            <a:ext cx="219456" cy="457200"/>
          </a:xfrm>
          <a:prstGeom prst="chevron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2784" y="24688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47104" y="27432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281635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520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Segoe UI"/>
              </a:rPr>
              <a:t>FACILITY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319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Aset ditempatkan di gedung/ruangan site tertentu.</a:t>
            </a:r>
          </a:p>
        </p:txBody>
      </p:sp>
      <p:sp>
        <p:nvSpPr>
          <p:cNvPr id="25" name="Chevron 24"/>
          <p:cNvSpPr/>
          <p:nvPr/>
        </p:nvSpPr>
        <p:spPr>
          <a:xfrm>
            <a:off x="8897112" y="3566160"/>
            <a:ext cx="219456" cy="457200"/>
          </a:xfrm>
          <a:prstGeom prst="chevron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34856" y="24688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09176" y="274320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3520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Segoe UI"/>
              </a:rPr>
              <a:t>OPNAME &amp;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9176" y="393192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Perhitungan fisik berkala + jejak audit seluruh perubahan.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04688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Satu aksi di satu modul otomatis memperbarui modul lain — tanpa input ganda.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AKSES MASUK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Login Aman Berbasis 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Autentikasi NIK + kata sandi  </a:t>
            </a:r>
            <a:r>
              <a:rPr sz="1400">
                <a:solidFill>
                  <a:srgbClr val="475569"/>
                </a:solidFill>
                <a:latin typeface="Segoe UI"/>
              </a:rPr>
              <a:t>kredensial terenkripsi (hash).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Sesi berbasis token (JWT)  </a:t>
            </a:r>
            <a:r>
              <a:rPr sz="1400">
                <a:solidFill>
                  <a:srgbClr val="475569"/>
                </a:solidFill>
                <a:latin typeface="Segoe UI"/>
              </a:rPr>
              <a:t>aman &amp; otomatis kedaluwarsa.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Opsi "Ingat saya"  </a:t>
            </a:r>
            <a:r>
              <a:rPr sz="1400">
                <a:solidFill>
                  <a:srgbClr val="475569"/>
                </a:solidFill>
                <a:latin typeface="Segoe UI"/>
              </a:rPr>
              <a:t>kemudahan pada perangkat tepercaya.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Antarmuka Bahasa Indonesia  </a:t>
            </a:r>
            <a:r>
              <a:rPr sz="1400">
                <a:solidFill>
                  <a:srgbClr val="475569"/>
                </a:solidFill>
                <a:latin typeface="Segoe UI"/>
              </a:rPr>
              <a:t>mudah dipahami seluruh pengguna.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Identitas perusahaan  </a:t>
            </a:r>
            <a:r>
              <a:rPr sz="1400">
                <a:solidFill>
                  <a:srgbClr val="475569"/>
                </a:solidFill>
                <a:latin typeface="Segoe UI"/>
              </a:rPr>
              <a:t>tampilan resmi PT Prima Sarana Gemilang.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Halaman login BIS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Dashboard Eksekutif SDM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Ringkasan tenaga kerja  </a:t>
            </a:r>
            <a:r>
              <a:rPr sz="1400">
                <a:solidFill>
                  <a:srgbClr val="475569"/>
                </a:solidFill>
                <a:latin typeface="Segoe UI"/>
              </a:rPr>
              <a:t>total karyawan aktif dalam sekali pandang.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Sebaran per divisi/departemen  </a:t>
            </a:r>
            <a:r>
              <a:rPr sz="1400">
                <a:solidFill>
                  <a:srgbClr val="475569"/>
                </a:solidFill>
                <a:latin typeface="Segoe UI"/>
              </a:rPr>
              <a:t>komposisi organisasi tervisualisasi.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Grafik &amp; statistik  </a:t>
            </a:r>
            <a:r>
              <a:rPr sz="1400">
                <a:solidFill>
                  <a:srgbClr val="475569"/>
                </a:solidFill>
                <a:latin typeface="Segoe UI"/>
              </a:rPr>
              <a:t>tren data SDM yang mudah dibaca pimpinan.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Data real-time  </a:t>
            </a:r>
            <a:r>
              <a:rPr sz="1400">
                <a:solidFill>
                  <a:srgbClr val="475569"/>
                </a:solidFill>
                <a:latin typeface="Segoe UI"/>
              </a:rPr>
              <a:t>angka selalu mengikuti kondisi terkini.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Dasar pengambilan keputusan  </a:t>
            </a:r>
            <a:r>
              <a:rPr sz="1400">
                <a:solidFill>
                  <a:srgbClr val="475569"/>
                </a:solidFill>
                <a:latin typeface="Segoe UI"/>
              </a:rPr>
              <a:t>informasi ringkas untuk manajemen.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dashboard-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Dashboard HR — ikhtisar SDM untuk manajemen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Direktori &amp; Data Karyawan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Data karyawan lengkap  </a:t>
            </a:r>
            <a:r>
              <a:rPr sz="1400">
                <a:solidFill>
                  <a:srgbClr val="475569"/>
                </a:solidFill>
                <a:latin typeface="Segoe UI"/>
              </a:rPr>
              <a:t>identitas, kepegawaian, keluarga &amp; dokumen.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Pencarian &amp; filter  </a:t>
            </a:r>
            <a:r>
              <a:rPr sz="1400">
                <a:solidFill>
                  <a:srgbClr val="475569"/>
                </a:solidFill>
                <a:latin typeface="Segoe UI"/>
              </a:rPr>
              <a:t>temukan karyawan secara cepat.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Foto &amp; QR Code  </a:t>
            </a:r>
            <a:r>
              <a:rPr sz="1400">
                <a:solidFill>
                  <a:srgbClr val="475569"/>
                </a:solidFill>
                <a:latin typeface="Segoe UI"/>
              </a:rPr>
              <a:t>identitas visual tiap karyawan.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Impor &amp; ekspor massal  </a:t>
            </a:r>
            <a:r>
              <a:rPr sz="1400">
                <a:solidFill>
                  <a:srgbClr val="475569"/>
                </a:solidFill>
                <a:latin typeface="Segoe UI"/>
              </a:rPr>
              <a:t>input banyak data via Excel.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Riwayat &amp; jejak audit  </a:t>
            </a:r>
            <a:r>
              <a:rPr sz="1400">
                <a:solidFill>
                  <a:srgbClr val="475569"/>
                </a:solidFill>
                <a:latin typeface="Segoe UI"/>
              </a:rPr>
              <a:t>setiap perubahan tercatat rapi.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hr-karyaw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Direktori Karyawan — pusat data seluruh pegawai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Master Data Kepegawaian Terstandar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75569"/>
                </a:solidFill>
                <a:latin typeface="Segoe UI"/>
              </a:rPr>
              <a:t>Seluruh pilihan data mengacu pada daftar baku yang seragam — mencegah penulisan tidak konsisten dan menjaga kualitas data organisasi.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Divisi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65176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2651760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651760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Departemen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265176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2651760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2651760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Posisi / Jabatan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265176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34856" y="2651760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2651760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Kategori Pangkat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85032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85032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68503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Golongan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0712" y="3685032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10712" y="3685032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368503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Sub Golongan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4" y="3685032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4" y="3685032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368503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Jenis Hubungan Kerja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6" y="3685032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4856" y="3685032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4896" y="368503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Tag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18304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718304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718304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Lokasi Kerja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0712" y="4718304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10712" y="4718304"/>
            <a:ext cx="9144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4718304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Status Karyawan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064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10 Entitas Master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58064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Soft-delete &amp; Kode Unik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Dashboard Inventaris &amp; Logistik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Nilai &amp; jumlah stok  </a:t>
            </a:r>
            <a:r>
              <a:rPr sz="1400">
                <a:solidFill>
                  <a:srgbClr val="475569"/>
                </a:solidFill>
                <a:latin typeface="Segoe UI"/>
              </a:rPr>
              <a:t>gambaran aset gudang secara ringkas.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Peringatan stok rendah  </a:t>
            </a:r>
            <a:r>
              <a:rPr sz="1400">
                <a:solidFill>
                  <a:srgbClr val="475569"/>
                </a:solidFill>
                <a:latin typeface="Segoe UI"/>
              </a:rPr>
              <a:t>notifikasi otomatis saat perlu pengadaan.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Aktivitas transaksi terkini  </a:t>
            </a:r>
            <a:r>
              <a:rPr sz="1400">
                <a:solidFill>
                  <a:srgbClr val="475569"/>
                </a:solidFill>
                <a:latin typeface="Segoe UI"/>
              </a:rPr>
              <a:t>pantau keluar-masuk barang.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Sebaran per gudang  </a:t>
            </a:r>
            <a:r>
              <a:rPr sz="1400">
                <a:solidFill>
                  <a:srgbClr val="475569"/>
                </a:solidFill>
                <a:latin typeface="Segoe UI"/>
              </a:rPr>
              <a:t>posisi stok di tiap lokasi.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Indikator kesehatan stok  </a:t>
            </a:r>
            <a:r>
              <a:rPr sz="1400">
                <a:solidFill>
                  <a:srgbClr val="475569"/>
                </a:solidFill>
                <a:latin typeface="Segoe UI"/>
              </a:rPr>
              <a:t>cepat kenali item bermasalah.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inventory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Dashboard Inventory — kendali penuh atas logistik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Katalog Produk &amp; 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Master produk lengkap  </a:t>
            </a:r>
            <a:r>
              <a:rPr sz="1400">
                <a:solidFill>
                  <a:srgbClr val="475569"/>
                </a:solidFill>
                <a:latin typeface="Segoe UI"/>
              </a:rPr>
              <a:t>kategori, sub-kategori, merek &amp; satuan.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Serial number &amp; Tag  </a:t>
            </a:r>
            <a:r>
              <a:rPr sz="1400">
                <a:solidFill>
                  <a:srgbClr val="475569"/>
                </a:solidFill>
                <a:latin typeface="Segoe UI"/>
              </a:rPr>
              <a:t>pelacakan unit aset secara individual.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Barang habis pakai (consumable)  </a:t>
            </a:r>
            <a:r>
              <a:rPr sz="1400">
                <a:solidFill>
                  <a:srgbClr val="475569"/>
                </a:solidFill>
                <a:latin typeface="Segoe UI"/>
              </a:rPr>
              <a:t>dukung stok pakai-habis.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Stok minimum  </a:t>
            </a:r>
            <a:r>
              <a:rPr sz="1400">
                <a:solidFill>
                  <a:srgbClr val="475569"/>
                </a:solidFill>
                <a:latin typeface="Segoe UI"/>
              </a:rPr>
              <a:t>ambang batas pemicu peringatan pengadaan.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Terhubung ke gudang  </a:t>
            </a:r>
            <a:r>
              <a:rPr sz="1400">
                <a:solidFill>
                  <a:srgbClr val="475569"/>
                </a:solidFill>
                <a:latin typeface="Segoe UI"/>
              </a:rPr>
              <a:t>posisi tiap produk selalu jelas.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inventory-prod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Katalog Produk — fondasi seluruh data inventaris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Transaksi Stok dengan Persetujuan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Barang masuk &amp; keluar  </a:t>
            </a:r>
            <a:r>
              <a:rPr sz="1400">
                <a:solidFill>
                  <a:srgbClr val="475569"/>
                </a:solidFill>
                <a:latin typeface="Segoe UI"/>
              </a:rPr>
              <a:t>seluruh pergerakan stok tercatat.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Alur persetujuan (approval)  </a:t>
            </a:r>
            <a:r>
              <a:rPr sz="1400">
                <a:solidFill>
                  <a:srgbClr val="475569"/>
                </a:solidFill>
                <a:latin typeface="Segoe UI"/>
              </a:rPr>
              <a:t>transaksi tervalidasi sebelum berlaku.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Void &amp; amend  </a:t>
            </a:r>
            <a:r>
              <a:rPr sz="1400">
                <a:solidFill>
                  <a:srgbClr val="475569"/>
                </a:solidFill>
                <a:latin typeface="Segoe UI"/>
              </a:rPr>
              <a:t>koreksi terkontrol dengan jejak audit.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Retur &amp; mutasi antar gudang  </a:t>
            </a:r>
            <a:r>
              <a:rPr sz="1400">
                <a:solidFill>
                  <a:srgbClr val="475569"/>
                </a:solidFill>
                <a:latin typeface="Segoe UI"/>
              </a:rPr>
              <a:t>dukung beragam skenario logistik.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Stok terupdate otomatis  </a:t>
            </a:r>
            <a:r>
              <a:rPr sz="1400">
                <a:solidFill>
                  <a:srgbClr val="475569"/>
                </a:solidFill>
                <a:latin typeface="Segoe UI"/>
              </a:rPr>
              <a:t>saldo selalu akurat setelah transaksi.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-inventory-transak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Transaksi Inventory — pergerakan stok yang terkendali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Stock Opname — Hitung Fisik Gudang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Sesi hitung fisik terstruktur  </a:t>
            </a:r>
            <a:r>
              <a:rPr sz="1400">
                <a:solidFill>
                  <a:srgbClr val="475569"/>
                </a:solidFill>
                <a:latin typeface="Segoe UI"/>
              </a:rPr>
              <a:t>Draft → Berjalan → Selesai → Approved.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Snapshot stok &amp; serial  </a:t>
            </a:r>
            <a:r>
              <a:rPr sz="1400">
                <a:solidFill>
                  <a:srgbClr val="475569"/>
                </a:solidFill>
                <a:latin typeface="Segoe UI"/>
              </a:rPr>
              <a:t>bandingkan fisik vs sistem otomatis.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Selisih dihitung otomatis  </a:t>
            </a:r>
            <a:r>
              <a:rPr sz="1400">
                <a:solidFill>
                  <a:srgbClr val="475569"/>
                </a:solidFill>
                <a:latin typeface="Segoe UI"/>
              </a:rPr>
              <a:t>temukan perbedaan tanpa hitung manual.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Penyesuaian saat disetujui  </a:t>
            </a:r>
            <a:r>
              <a:rPr sz="1400">
                <a:solidFill>
                  <a:srgbClr val="475569"/>
                </a:solidFill>
                <a:latin typeface="Segoe UI"/>
              </a:rPr>
              <a:t>koreksi stok resmi &amp; tercatat.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Berita Acara PDF  </a:t>
            </a:r>
            <a:r>
              <a:rPr sz="1400">
                <a:solidFill>
                  <a:srgbClr val="475569"/>
                </a:solidFill>
                <a:latin typeface="Segoe UI"/>
              </a:rPr>
              <a:t>dokumen resmi hasil opname.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inventory-op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Stock Opname — verifikasi fisik gudang berkala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Label QR &amp; Kartu Stok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Cetak label QR aset  </a:t>
            </a:r>
            <a:r>
              <a:rPr sz="1400">
                <a:solidFill>
                  <a:srgbClr val="475569"/>
                </a:solidFill>
                <a:latin typeface="Segoe UI"/>
              </a:rPr>
              <a:t>identitas fisik tiap unit barang.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Pindai cepat via QR  </a:t>
            </a:r>
            <a:r>
              <a:rPr sz="1400">
                <a:solidFill>
                  <a:srgbClr val="475569"/>
                </a:solidFill>
                <a:latin typeface="Segoe UI"/>
              </a:rPr>
              <a:t>cari data aset langsung dari lapangan.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Kartu stok per produk  </a:t>
            </a:r>
            <a:r>
              <a:rPr sz="1400">
                <a:solidFill>
                  <a:srgbClr val="475569"/>
                </a:solidFill>
                <a:latin typeface="Segoe UI"/>
              </a:rPr>
              <a:t>riwayat mutasi masuk-keluar lengkap.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Dukungan PWA/mobile  </a:t>
            </a:r>
            <a:r>
              <a:rPr sz="1400">
                <a:solidFill>
                  <a:srgbClr val="475569"/>
                </a:solidFill>
                <a:latin typeface="Segoe UI"/>
              </a:rPr>
              <a:t>pemindaian dari perangkat genggam.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Telusur aset akurat  </a:t>
            </a:r>
            <a:r>
              <a:rPr sz="1400">
                <a:solidFill>
                  <a:srgbClr val="475569"/>
                </a:solidFill>
                <a:latin typeface="Segoe UI"/>
              </a:rPr>
              <a:t>kurangi kehilangan &amp; salah catat.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-inventory-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Label QR — jembatan antara aset fisik &amp; sistem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MODUL FACILITY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Manajemen Fasilitas &amp; Akomodasi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Gedung &amp; ruangan  </a:t>
            </a:r>
            <a:r>
              <a:rPr sz="1400">
                <a:solidFill>
                  <a:srgbClr val="475569"/>
                </a:solidFill>
                <a:latin typeface="Segoe UI"/>
              </a:rPr>
              <a:t>data lengkap fasilitas per lokasi.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Penghuni (occupants)  </a:t>
            </a:r>
            <a:r>
              <a:rPr sz="1400">
                <a:solidFill>
                  <a:srgbClr val="475569"/>
                </a:solidFill>
                <a:latin typeface="Segoe UI"/>
              </a:rPr>
              <a:t>siapa menempati ruang/mess site.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Aset fasilitas  </a:t>
            </a:r>
            <a:r>
              <a:rPr sz="1400">
                <a:solidFill>
                  <a:srgbClr val="475569"/>
                </a:solidFill>
                <a:latin typeface="Segoe UI"/>
              </a:rPr>
              <a:t>inventaris barang di tiap ruangan.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Work order pemeliharaan  </a:t>
            </a:r>
            <a:r>
              <a:rPr sz="1400">
                <a:solidFill>
                  <a:srgbClr val="475569"/>
                </a:solidFill>
                <a:latin typeface="Segoe UI"/>
              </a:rPr>
              <a:t>permintaan &amp; pelacakan perbaikan.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Relevan untuk tambang  </a:t>
            </a:r>
            <a:r>
              <a:rPr sz="1400">
                <a:solidFill>
                  <a:srgbClr val="475569"/>
                </a:solidFill>
                <a:latin typeface="Segoe UI"/>
              </a:rPr>
              <a:t>kelola kamp &amp; mess site terpencil.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-facility-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Facility Management — kelola fasilitas &amp; akomodasi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KEAMANAN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Kontrol Akses Berbasis Peran (RBAC)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Manajemen user &amp; akun  </a:t>
            </a:r>
            <a:r>
              <a:rPr sz="1400">
                <a:solidFill>
                  <a:srgbClr val="475569"/>
                </a:solidFill>
                <a:latin typeface="Segoe UI"/>
              </a:rPr>
              <a:t>kelola pengguna dari satu tempat.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Peran (role) fleksibel  </a:t>
            </a:r>
            <a:r>
              <a:rPr sz="1400">
                <a:solidFill>
                  <a:srgbClr val="475569"/>
                </a:solidFill>
                <a:latin typeface="Segoe UI"/>
              </a:rPr>
              <a:t>susun paket hak akses sesuai jabatan.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Hak akses granular  </a:t>
            </a:r>
            <a:r>
              <a:rPr sz="1400">
                <a:solidFill>
                  <a:srgbClr val="475569"/>
                </a:solidFill>
                <a:latin typeface="Segoe UI"/>
              </a:rPr>
              <a:t>13 sumber daya × 9 aksi terkontrol.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Akses per departemen  </a:t>
            </a:r>
            <a:r>
              <a:rPr sz="1400">
                <a:solidFill>
                  <a:srgbClr val="475569"/>
                </a:solidFill>
                <a:latin typeface="Segoe UI"/>
              </a:rPr>
              <a:t>batasi data sesuai lingkup kerja.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D4ED8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Jejak audit menyeluruh  </a:t>
            </a:r>
            <a:r>
              <a:rPr sz="1400">
                <a:solidFill>
                  <a:srgbClr val="475569"/>
                </a:solidFill>
                <a:latin typeface="Segoe UI"/>
              </a:rPr>
              <a:t>setiap tindakan penting terekam.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6320" y="1585915"/>
            <a:ext cx="6898000" cy="4326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5-admin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5915"/>
            <a:ext cx="6858000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6320" y="59893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Segoe UI"/>
              </a:rPr>
              <a:t>Manajemen User &amp; Peran — keamanan berlapis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DI BALIK LAYAR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"/>
              </a:rPr>
              <a:t>Teknologi &amp; Keunggulan Sistem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0584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91440" cy="13258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Modern &amp; Andal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Segoe UI"/>
              </a:rPr>
              <a:t>Dibangun dengan teknologi web terkini (React, Node.js, PostgreSQL) — cepat, stabil, dan mudah dikembangkan.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91440" cy="13258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Segoe UI"/>
              </a:rPr>
              <a:t>Enkripsi kata sandi, sesi token, kontrol akses berbasis peran, proteksi CSRF, dan pembatasan laju permintaan.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82112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82112"/>
            <a:ext cx="91440" cy="13258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19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Cepat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30752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Segoe UI"/>
              </a:rPr>
              <a:t>Caching cerdas (Redis) membuat halaman tampil responsif walau data besar.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82112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182112"/>
            <a:ext cx="91440" cy="13258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19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Akses Mobile (PWA)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30752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Segoe UI"/>
              </a:rPr>
              <a:t>Bisa dipasang seperti aplikasi &amp; dukungan mode offline terbatas — cocok untuk operasional lapangan.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72584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72584"/>
            <a:ext cx="91440" cy="13258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0974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Terdokumentasi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21224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Segoe UI"/>
              </a:rPr>
              <a:t>API terdokumentasi (Swagger) &amp; teruji otomatis untuk menjaga kualitas.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72584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672584"/>
            <a:ext cx="91440" cy="13258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809744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Bahasa Indonesia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21224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Segoe UI"/>
              </a:rPr>
              <a:t>Seluruh antarmuka &amp; pesan dalam Bahasa Indonesia.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Segoe UI"/>
              </a:rPr>
              <a:t>Bebang Sistem Informasi  •  PT Prima Sarana Gemilang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4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49240" y="1371600"/>
            <a:ext cx="1463040" cy="146304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1691640"/>
            <a:ext cx="1463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BIS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CBD5E1"/>
                </a:solidFill>
                <a:latin typeface="Segoe UI"/>
              </a:rPr>
              <a:t>Bebang Sistem Informasi — Satu Platform untuk HR, Inventory &amp; Facility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502920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5029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5029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FACILITY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PT Prima Sarana Gemilang  •  IT Division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